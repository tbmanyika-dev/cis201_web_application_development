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Space Grotesk" panose="020B0604020202020204" charset="0"/>
      <p:regular r:id="rId29"/>
      <p:bold r:id="rId30"/>
    </p:embeddedFont>
    <p:embeddedFont>
      <p:font typeface="Roboto" panose="020B0604020202020204" charset="0"/>
      <p:regular r:id="rId31"/>
      <p:bold r:id="rId32"/>
      <p:italic r:id="rId33"/>
      <p:boldItalic r:id="rId34"/>
    </p:embeddedFont>
    <p:embeddedFont>
      <p:font typeface="Space Grotesk Light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704fe3d20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9704fe3d20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704fe3d20_2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9704fe3d20_2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704fe3d20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9704fe3d20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04fe3d20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9704fe3d20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704fe3d20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9704fe3d20_2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704fe3d20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9704fe3d20_2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04fe3d20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9704fe3d20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704fe3d20_2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9704fe3d20_2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704fe3d20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9704fe3d20_2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704fe3d20_2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9704fe3d20_2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704fe3d20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9704fe3d20_2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704fe3d20_2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9704fe3d20_2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704fe3d20_2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9704fe3d20_2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704fe3d20_2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9704fe3d20_2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704fe3d20_2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9704fe3d20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704fe3d20_2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9704fe3d20_2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704fe3d20_2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9704fe3d20_2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704fe3d20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9704fe3d20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704fe3d20_2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9704fe3d20_2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704fe3d20_2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9704fe3d20_2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704fe3d20_2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9704fe3d20_2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226100" y="144575"/>
            <a:ext cx="8689200" cy="809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228600" y="2888900"/>
            <a:ext cx="5107800" cy="40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3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4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11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4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457200" y="1371600"/>
            <a:ext cx="27432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P5 PRESENTATION</a:t>
            </a:r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title"/>
          </p:nvPr>
        </p:nvSpPr>
        <p:spPr>
          <a:xfrm>
            <a:off x="457200" y="1752600"/>
            <a:ext cx="8229600" cy="12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Framework &amp;</a:t>
            </a:r>
            <a:endParaRPr/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8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Design System</a:t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457200" y="3504600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Fleet &amp; Facilities Integrated Management System</a:t>
            </a:r>
            <a:endParaRPr/>
          </a:p>
        </p:txBody>
      </p:sp>
      <p:sp>
        <p:nvSpPr>
          <p:cNvPr id="110" name="Google Shape;110;p26"/>
          <p:cNvSpPr txBox="1"/>
          <p:nvPr/>
        </p:nvSpPr>
        <p:spPr>
          <a:xfrm>
            <a:off x="7086600" y="4572000"/>
            <a:ext cx="18288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FFIMS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Framework Overview</a:t>
            </a:r>
            <a:endParaRPr/>
          </a:p>
        </p:txBody>
      </p:sp>
      <p:sp>
        <p:nvSpPr>
          <p:cNvPr id="117" name="Google Shape;117;p27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P5 Group Responsibility</a:t>
            </a:r>
            <a:endParaRPr/>
          </a:p>
        </p:txBody>
      </p:sp>
      <p:sp>
        <p:nvSpPr>
          <p:cNvPr id="118" name="Google Shape;118;p27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457200" y="1143000"/>
            <a:ext cx="2590800" cy="121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Designed by Group P5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For the FFIMS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End-to-end UI system</a:t>
            </a:r>
            <a:endParaRPr/>
          </a:p>
        </p:txBody>
      </p:sp>
      <p:sp>
        <p:nvSpPr>
          <p:cNvPr id="120" name="Google Shape;120;p27"/>
          <p:cNvSpPr/>
          <p:nvPr/>
        </p:nvSpPr>
        <p:spPr>
          <a:xfrm>
            <a:off x="3505200" y="1143000"/>
            <a:ext cx="2590800" cy="121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Focus Areas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Layout structure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Color scheme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Typography &amp; components</a:t>
            </a:r>
            <a:endParaRPr/>
          </a:p>
        </p:txBody>
      </p:sp>
      <p:sp>
        <p:nvSpPr>
          <p:cNvPr id="121" name="Google Shape;121;p27"/>
          <p:cNvSpPr/>
          <p:nvPr/>
        </p:nvSpPr>
        <p:spPr>
          <a:xfrm>
            <a:off x="6553200" y="1143000"/>
            <a:ext cx="2590800" cy="121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Professional interface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Easy to navigate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Visually consistent</a:t>
            </a:r>
            <a:endParaRPr/>
          </a:p>
        </p:txBody>
      </p:sp>
      <p:sp>
        <p:nvSpPr>
          <p:cNvPr id="122" name="Google Shape;122;p27"/>
          <p:cNvSpPr txBox="1"/>
          <p:nvPr/>
        </p:nvSpPr>
        <p:spPr>
          <a:xfrm>
            <a:off x="457200" y="2590800"/>
            <a:ext cx="8229600" cy="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UI framework establishes a unified design language across all FFIMS modules — from Fleet and Facilities to Maintenance and Reports — ensuring every screen feels cohesive and intuitive.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Goals</a:t>
            </a:r>
            <a:endParaRPr/>
          </a:p>
        </p:txBody>
      </p:sp>
      <p:sp>
        <p:nvSpPr>
          <p:cNvPr id="129" name="Google Shape;129;p28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8"/>
          <p:cNvSpPr/>
          <p:nvPr/>
        </p:nvSpPr>
        <p:spPr>
          <a:xfrm>
            <a:off x="457200" y="1219200"/>
            <a:ext cx="114300" cy="1143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609600" y="11430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Clean &amp; Modern Interface</a:t>
            </a:r>
            <a:endParaRPr/>
          </a:p>
        </p:txBody>
      </p:sp>
      <p:sp>
        <p:nvSpPr>
          <p:cNvPr id="132" name="Google Shape;132;p28"/>
          <p:cNvSpPr txBox="1"/>
          <p:nvPr/>
        </p:nvSpPr>
        <p:spPr>
          <a:xfrm>
            <a:off x="609600" y="14478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Suitable for a professional management system environment</a:t>
            </a:r>
            <a:endParaRPr/>
          </a:p>
        </p:txBody>
      </p:sp>
      <p:sp>
        <p:nvSpPr>
          <p:cNvPr id="133" name="Google Shape;133;p28"/>
          <p:cNvSpPr/>
          <p:nvPr/>
        </p:nvSpPr>
        <p:spPr>
          <a:xfrm>
            <a:off x="457200" y="1905000"/>
            <a:ext cx="114300" cy="1143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609600" y="18288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Easy Navigation</a:t>
            </a:r>
            <a:endParaRPr/>
          </a:p>
        </p:txBody>
      </p:sp>
      <p:sp>
        <p:nvSpPr>
          <p:cNvPr id="135" name="Google Shape;135;p28"/>
          <p:cNvSpPr txBox="1"/>
          <p:nvPr/>
        </p:nvSpPr>
        <p:spPr>
          <a:xfrm>
            <a:off x="609600" y="21336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Designed for administrators, managers, and staff users</a:t>
            </a:r>
            <a:endParaRPr/>
          </a:p>
        </p:txBody>
      </p:sp>
      <p:sp>
        <p:nvSpPr>
          <p:cNvPr id="136" name="Google Shape;136;p28"/>
          <p:cNvSpPr/>
          <p:nvPr/>
        </p:nvSpPr>
        <p:spPr>
          <a:xfrm>
            <a:off x="457200" y="2590800"/>
            <a:ext cx="114300" cy="1143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609600" y="25146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Visual Consistency</a:t>
            </a:r>
            <a:endParaRPr/>
          </a:p>
        </p:txBody>
      </p:sp>
      <p:sp>
        <p:nvSpPr>
          <p:cNvPr id="138" name="Google Shape;138;p28"/>
          <p:cNvSpPr txBox="1"/>
          <p:nvPr/>
        </p:nvSpPr>
        <p:spPr>
          <a:xfrm>
            <a:off x="609600" y="28194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Unified look and feel across all system pages</a:t>
            </a:r>
            <a:endParaRPr/>
          </a:p>
        </p:txBody>
      </p:sp>
      <p:sp>
        <p:nvSpPr>
          <p:cNvPr id="139" name="Google Shape;139;p28"/>
          <p:cNvSpPr/>
          <p:nvPr/>
        </p:nvSpPr>
        <p:spPr>
          <a:xfrm>
            <a:off x="457200" y="3276600"/>
            <a:ext cx="114300" cy="1143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609600" y="32004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Readability First</a:t>
            </a:r>
            <a:endParaRPr/>
          </a:p>
        </p:txBody>
      </p:sp>
      <p:sp>
        <p:nvSpPr>
          <p:cNvPr id="141" name="Google Shape;141;p28"/>
          <p:cNvSpPr txBox="1"/>
          <p:nvPr/>
        </p:nvSpPr>
        <p:spPr>
          <a:xfrm>
            <a:off x="609600" y="35052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Color and spacing chosen to improve focus and readability</a:t>
            </a:r>
            <a:endParaRPr/>
          </a:p>
        </p:txBody>
      </p:sp>
      <p:sp>
        <p:nvSpPr>
          <p:cNvPr id="142" name="Google Shape;142;p28"/>
          <p:cNvSpPr/>
          <p:nvPr/>
        </p:nvSpPr>
        <p:spPr>
          <a:xfrm>
            <a:off x="457200" y="3962400"/>
            <a:ext cx="114300" cy="1143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609600" y="38862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Scalable Design</a:t>
            </a:r>
            <a:endParaRPr/>
          </a:p>
        </p:txBody>
      </p:sp>
      <p:sp>
        <p:nvSpPr>
          <p:cNvPr id="144" name="Google Shape;144;p28"/>
          <p:cNvSpPr txBox="1"/>
          <p:nvPr/>
        </p:nvSpPr>
        <p:spPr>
          <a:xfrm>
            <a:off x="609600" y="4191000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Adapts across Fleet, Facilities, Maintenance &amp; Reports modules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Color Scheme</a:t>
            </a:r>
            <a:endParaRPr/>
          </a:p>
        </p:txBody>
      </p:sp>
      <p:sp>
        <p:nvSpPr>
          <p:cNvPr id="151" name="Google Shape;151;p29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FFIMS Visual Identity</a:t>
            </a:r>
            <a:endParaRPr/>
          </a:p>
        </p:txBody>
      </p:sp>
      <p:sp>
        <p:nvSpPr>
          <p:cNvPr id="152" name="Google Shape;152;p29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FFIMS system uses a bold Red, Black, and White color palette for maximum contrast and professionalism.</a:t>
            </a:r>
            <a:endParaRPr/>
          </a:p>
        </p:txBody>
      </p:sp>
      <p:sp>
        <p:nvSpPr>
          <p:cNvPr id="154" name="Google Shape;154;p29"/>
          <p:cNvSpPr/>
          <p:nvPr/>
        </p:nvSpPr>
        <p:spPr>
          <a:xfrm>
            <a:off x="457200" y="1600200"/>
            <a:ext cx="2590800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  #CC0000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DDDD"/>
                </a:solidFill>
                <a:latin typeface="Calibri"/>
                <a:ea typeface="Calibri"/>
                <a:cs typeface="Calibri"/>
                <a:sym typeface="Calibri"/>
              </a:rPr>
              <a:t>• Action buttons (Login, Logout)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DDDD"/>
                </a:solidFill>
                <a:latin typeface="Calibri"/>
                <a:ea typeface="Calibri"/>
                <a:cs typeface="Calibri"/>
                <a:sym typeface="Calibri"/>
              </a:rPr>
              <a:t>• Active navigation items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DDDD"/>
                </a:solidFill>
                <a:latin typeface="Calibri"/>
                <a:ea typeface="Calibri"/>
                <a:cs typeface="Calibri"/>
                <a:sym typeface="Calibri"/>
              </a:rPr>
              <a:t>• Important highlights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DDDD"/>
                </a:solidFill>
                <a:latin typeface="Calibri"/>
                <a:ea typeface="Calibri"/>
                <a:cs typeface="Calibri"/>
                <a:sym typeface="Calibri"/>
              </a:rPr>
              <a:t>• Key indicators &amp; alerts</a:t>
            </a:r>
            <a:endParaRPr/>
          </a:p>
        </p:txBody>
      </p:sp>
      <p:sp>
        <p:nvSpPr>
          <p:cNvPr id="155" name="Google Shape;155;p29"/>
          <p:cNvSpPr/>
          <p:nvPr/>
        </p:nvSpPr>
        <p:spPr>
          <a:xfrm>
            <a:off x="3505200" y="1600200"/>
            <a:ext cx="259080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BLACK  #1A1A1A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Navigation bars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Side menu backgrounds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Professional headers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Dark UI surfaces</a:t>
            </a:r>
            <a:endParaRPr/>
          </a:p>
        </p:txBody>
      </p:sp>
      <p:sp>
        <p:nvSpPr>
          <p:cNvPr id="156" name="Google Shape;156;p29"/>
          <p:cNvSpPr/>
          <p:nvPr/>
        </p:nvSpPr>
        <p:spPr>
          <a:xfrm>
            <a:off x="6553200" y="1600200"/>
            <a:ext cx="2590800" cy="2743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WHITE  #FFFFFF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Content area backgrounds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Form fields &amp; cards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Improved readability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Clean contrast zones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Typography</a:t>
            </a:r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Text Design System</a:t>
            </a:r>
            <a:endParaRPr/>
          </a:p>
        </p:txBody>
      </p:sp>
      <p:sp>
        <p:nvSpPr>
          <p:cNvPr id="164" name="Google Shape;164;p30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457200" y="1143000"/>
            <a:ext cx="39624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Bold Text Usage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Page titles (e.g. Dashboard Overview)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Key statistics on dashboard cards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Section headers &amp; nav labels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Primary action labels</a:t>
            </a:r>
            <a:endParaRPr/>
          </a:p>
        </p:txBody>
      </p:sp>
      <p:sp>
        <p:nvSpPr>
          <p:cNvPr id="166" name="Google Shape;166;p30"/>
          <p:cNvSpPr/>
          <p:nvPr/>
        </p:nvSpPr>
        <p:spPr>
          <a:xfrm>
            <a:off x="4724400" y="1143000"/>
            <a:ext cx="39624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Regular Text Usage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Form labels &amp; field hints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Menu items &amp; links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Supporting descriptions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Table data &amp; metadata</a:t>
            </a:r>
            <a:endParaRPr/>
          </a:p>
        </p:txBody>
      </p:sp>
      <p:sp>
        <p:nvSpPr>
          <p:cNvPr id="167" name="Google Shape;167;p30"/>
          <p:cNvSpPr txBox="1"/>
          <p:nvPr/>
        </p:nvSpPr>
        <p:spPr>
          <a:xfrm>
            <a:off x="457200" y="4571250"/>
            <a:ext cx="8229600" cy="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Typography supports quick scanning — critical for management dashboards where decisions are time-sensitive.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Page UI Design</a:t>
            </a:r>
            <a:endParaRPr/>
          </a:p>
        </p:txBody>
      </p:sp>
      <p:sp>
        <p:nvSpPr>
          <p:cNvPr id="174" name="Google Shape;174;p31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Authentication Screen</a:t>
            </a:r>
            <a:endParaRPr/>
          </a:p>
        </p:txBody>
      </p:sp>
      <p:sp>
        <p:nvSpPr>
          <p:cNvPr id="175" name="Google Shape;175;p31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457200" y="1143000"/>
            <a:ext cx="381000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Split Layout Design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Left side: login 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Right side: welcome message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Minimal cognitive load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Fast user authentication</a:t>
            </a:r>
            <a:endParaRPr/>
          </a:p>
        </p:txBody>
      </p:sp>
      <p:sp>
        <p:nvSpPr>
          <p:cNvPr id="177" name="Google Shape;177;p31"/>
          <p:cNvSpPr/>
          <p:nvPr/>
        </p:nvSpPr>
        <p:spPr>
          <a:xfrm>
            <a:off x="4648200" y="1143000"/>
            <a:ext cx="3962400" cy="1828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UX Decisions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Minimal inputs: Username &amp; Password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Red CTA button for primary action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Forgot Password &amp; Sign Up links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Simple, focused authentication flow</a:t>
            </a:r>
            <a:endParaRPr/>
          </a:p>
        </p:txBody>
      </p:sp>
      <p:sp>
        <p:nvSpPr>
          <p:cNvPr id="178" name="Google Shape;178;p31"/>
          <p:cNvSpPr/>
          <p:nvPr/>
        </p:nvSpPr>
        <p:spPr>
          <a:xfrm>
            <a:off x="457200" y="3200400"/>
            <a:ext cx="13716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Red</a:t>
            </a:r>
            <a:endParaRPr/>
          </a:p>
        </p:txBody>
      </p:sp>
      <p:sp>
        <p:nvSpPr>
          <p:cNvPr id="179" name="Google Shape;179;p31"/>
          <p:cNvSpPr txBox="1"/>
          <p:nvPr/>
        </p:nvSpPr>
        <p:spPr>
          <a:xfrm>
            <a:off x="457200" y="37719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#CC0000 / rgb(204,0,0)</a:t>
            </a:r>
            <a:endParaRPr/>
          </a:p>
        </p:txBody>
      </p:sp>
      <p:sp>
        <p:nvSpPr>
          <p:cNvPr id="180" name="Google Shape;180;p31"/>
          <p:cNvSpPr/>
          <p:nvPr/>
        </p:nvSpPr>
        <p:spPr>
          <a:xfrm>
            <a:off x="1981200" y="3200400"/>
            <a:ext cx="1371600" cy="571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Dark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1981200" y="37719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#1A1A1A / rgb(26,26,26)</a:t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>
            <a:off x="3505200" y="3200400"/>
            <a:ext cx="1371600" cy="571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Content White</a:t>
            </a:r>
            <a:endParaRPr/>
          </a:p>
        </p:txBody>
      </p:sp>
      <p:sp>
        <p:nvSpPr>
          <p:cNvPr id="183" name="Google Shape;183;p31"/>
          <p:cNvSpPr txBox="1"/>
          <p:nvPr/>
        </p:nvSpPr>
        <p:spPr>
          <a:xfrm>
            <a:off x="3505200" y="37719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#FFFFFF / rgb(255,255,255)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endParaRPr sz="2800">
              <a:solidFill>
                <a:schemeClr val="dk1"/>
              </a:solidFill>
            </a:endParaRPr>
          </a:p>
        </p:txBody>
      </p:sp>
      <p:sp>
        <p:nvSpPr>
          <p:cNvPr id="189" name="Google Shape;189;p32"/>
          <p:cNvSpPr txBox="1">
            <a:spLocks noGrp="1"/>
          </p:cNvSpPr>
          <p:nvPr>
            <p:ph type="body" idx="1"/>
          </p:nvPr>
        </p:nvSpPr>
        <p:spPr>
          <a:xfrm>
            <a:off x="311700" y="6410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90" name="Google Shape;190;p32" title="LP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313" y="280975"/>
            <a:ext cx="8562975" cy="4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UI Design</a:t>
            </a:r>
            <a:endParaRPr/>
          </a:p>
        </p:txBody>
      </p:sp>
      <p:sp>
        <p:nvSpPr>
          <p:cNvPr id="197" name="Google Shape;197;p33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System Overview Screen</a:t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dashboard provides a real-time overview using card-based metrics, allowing managers to assess system status at a glance.</a:t>
            </a:r>
            <a:endParaRPr/>
          </a:p>
        </p:txBody>
      </p:sp>
      <p:sp>
        <p:nvSpPr>
          <p:cNvPr id="200" name="Google Shape;200;p33"/>
          <p:cNvSpPr/>
          <p:nvPr/>
        </p:nvSpPr>
        <p:spPr>
          <a:xfrm>
            <a:off x="457200" y="1524000"/>
            <a:ext cx="1905000" cy="1371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Vehicles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Fleet count &amp; status</a:t>
            </a:r>
            <a:endParaRPr/>
          </a:p>
        </p:txBody>
      </p:sp>
      <p:sp>
        <p:nvSpPr>
          <p:cNvPr id="201" name="Google Shape;201;p33"/>
          <p:cNvSpPr/>
          <p:nvPr/>
        </p:nvSpPr>
        <p:spPr>
          <a:xfrm>
            <a:off x="2590800" y="1524000"/>
            <a:ext cx="190500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Facilities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Site monitoring data</a:t>
            </a:r>
            <a:endParaRPr/>
          </a:p>
        </p:txBody>
      </p:sp>
      <p:sp>
        <p:nvSpPr>
          <p:cNvPr id="202" name="Google Shape;202;p33"/>
          <p:cNvSpPr/>
          <p:nvPr/>
        </p:nvSpPr>
        <p:spPr>
          <a:xfrm>
            <a:off x="4724400" y="1524000"/>
            <a:ext cx="1905000" cy="1371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Ongoing Maintenance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Active work orders</a:t>
            </a:r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6858000" y="1524000"/>
            <a:ext cx="190500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Pending Requests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Queue &amp; approvals</a:t>
            </a:r>
            <a:endParaRPr/>
          </a:p>
        </p:txBody>
      </p:sp>
      <p:sp>
        <p:nvSpPr>
          <p:cNvPr id="204" name="Google Shape;204;p33"/>
          <p:cNvSpPr txBox="1"/>
          <p:nvPr/>
        </p:nvSpPr>
        <p:spPr>
          <a:xfrm>
            <a:off x="457200" y="3124200"/>
            <a:ext cx="8229600" cy="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Red vertical accents highlight critical statistics for quick identification.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Card layout reduces visual clutter and groups related information cleanly.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>
            <a:off x="24117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endParaRPr sz="2800">
              <a:solidFill>
                <a:schemeClr val="dk1"/>
              </a:solidFill>
            </a:endParaRPr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>
            <a:off x="241175" y="614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211" name="Google Shape;211;p34" title="DBO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69918"/>
            <a:ext cx="9144001" cy="440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/>
          </p:nvPr>
        </p:nvSpPr>
        <p:spPr>
          <a:xfrm>
            <a:off x="24117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endParaRPr sz="2800">
              <a:solidFill>
                <a:schemeClr val="dk1"/>
              </a:solidFill>
            </a:endParaRPr>
          </a:p>
        </p:txBody>
      </p:sp>
      <p:sp>
        <p:nvSpPr>
          <p:cNvPr id="217" name="Google Shape;217;p35"/>
          <p:cNvSpPr txBox="1">
            <a:spLocks noGrp="1"/>
          </p:cNvSpPr>
          <p:nvPr>
            <p:ph type="body" idx="1"/>
          </p:nvPr>
        </p:nvSpPr>
        <p:spPr>
          <a:xfrm>
            <a:off x="241175" y="614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218" name="Google Shape;218;p35" title="web vi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5" title="mobile vie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2900" y="2216900"/>
            <a:ext cx="2212625" cy="289967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5"/>
          <p:cNvSpPr txBox="1"/>
          <p:nvPr/>
        </p:nvSpPr>
        <p:spPr>
          <a:xfrm>
            <a:off x="7576125" y="3967575"/>
            <a:ext cx="13089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Mobile View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URLs &amp; Navigation Structure</a:t>
            </a:r>
            <a:endParaRPr/>
          </a:p>
        </p:txBody>
      </p:sp>
      <p:sp>
        <p:nvSpPr>
          <p:cNvPr id="227" name="Google Shape;227;p36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Route Architecture</a:t>
            </a:r>
            <a:endParaRPr/>
          </a:p>
        </p:txBody>
      </p:sp>
      <p:sp>
        <p:nvSpPr>
          <p:cNvPr id="228" name="Google Shape;228;p36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FFIMS uses structured URL routing — each module has a clear, meaningful path for usability, maintainability, and scalability.</a:t>
            </a:r>
            <a:endParaRPr/>
          </a:p>
        </p:txBody>
      </p:sp>
      <p:sp>
        <p:nvSpPr>
          <p:cNvPr id="230" name="Google Shape;230;p36"/>
          <p:cNvSpPr/>
          <p:nvPr/>
        </p:nvSpPr>
        <p:spPr>
          <a:xfrm>
            <a:off x="457200" y="1524000"/>
            <a:ext cx="2057400" cy="3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/login</a:t>
            </a:r>
            <a:endParaRPr/>
          </a:p>
        </p:txBody>
      </p:sp>
      <p:sp>
        <p:nvSpPr>
          <p:cNvPr id="231" name="Google Shape;231;p36"/>
          <p:cNvSpPr txBox="1"/>
          <p:nvPr/>
        </p:nvSpPr>
        <p:spPr>
          <a:xfrm>
            <a:off x="2667600" y="1562100"/>
            <a:ext cx="60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User authentication — secure login entry point</a:t>
            </a:r>
            <a:endParaRPr/>
          </a:p>
        </p:txBody>
      </p:sp>
      <p:sp>
        <p:nvSpPr>
          <p:cNvPr id="232" name="Google Shape;232;p36"/>
          <p:cNvSpPr/>
          <p:nvPr/>
        </p:nvSpPr>
        <p:spPr>
          <a:xfrm>
            <a:off x="457200" y="1981200"/>
            <a:ext cx="2057400" cy="3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/dashboard</a:t>
            </a:r>
            <a:endParaRPr/>
          </a:p>
        </p:txBody>
      </p:sp>
      <p:sp>
        <p:nvSpPr>
          <p:cNvPr id="233" name="Google Shape;233;p36"/>
          <p:cNvSpPr txBox="1"/>
          <p:nvPr/>
        </p:nvSpPr>
        <p:spPr>
          <a:xfrm>
            <a:off x="2667600" y="2019300"/>
            <a:ext cx="60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System overview — key metrics &amp; quick access</a:t>
            </a:r>
            <a:endParaRPr/>
          </a:p>
        </p:txBody>
      </p:sp>
      <p:sp>
        <p:nvSpPr>
          <p:cNvPr id="234" name="Google Shape;234;p36"/>
          <p:cNvSpPr/>
          <p:nvPr/>
        </p:nvSpPr>
        <p:spPr>
          <a:xfrm>
            <a:off x="457200" y="2438400"/>
            <a:ext cx="2057400" cy="3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/fleet-management</a:t>
            </a:r>
            <a:endParaRPr/>
          </a:p>
        </p:txBody>
      </p:sp>
      <p:sp>
        <p:nvSpPr>
          <p:cNvPr id="235" name="Google Shape;235;p36"/>
          <p:cNvSpPr txBox="1"/>
          <p:nvPr/>
        </p:nvSpPr>
        <p:spPr>
          <a:xfrm>
            <a:off x="2667600" y="2476500"/>
            <a:ext cx="60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Fleet operations — vehicle tracking &amp; dispatch</a:t>
            </a:r>
            <a:endParaRPr/>
          </a:p>
        </p:txBody>
      </p:sp>
      <p:sp>
        <p:nvSpPr>
          <p:cNvPr id="236" name="Google Shape;236;p36"/>
          <p:cNvSpPr/>
          <p:nvPr/>
        </p:nvSpPr>
        <p:spPr>
          <a:xfrm>
            <a:off x="457200" y="2895600"/>
            <a:ext cx="2057400" cy="3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/facilities-management</a:t>
            </a:r>
            <a:endParaRPr/>
          </a:p>
        </p:txBody>
      </p:sp>
      <p:sp>
        <p:nvSpPr>
          <p:cNvPr id="237" name="Google Shape;237;p36"/>
          <p:cNvSpPr txBox="1"/>
          <p:nvPr/>
        </p:nvSpPr>
        <p:spPr>
          <a:xfrm>
            <a:off x="2667600" y="2933700"/>
            <a:ext cx="60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Facilities monitoring — site &amp; asset overview</a:t>
            </a:r>
            <a:endParaRPr/>
          </a:p>
        </p:txBody>
      </p:sp>
      <p:sp>
        <p:nvSpPr>
          <p:cNvPr id="238" name="Google Shape;238;p36"/>
          <p:cNvSpPr/>
          <p:nvPr/>
        </p:nvSpPr>
        <p:spPr>
          <a:xfrm>
            <a:off x="457200" y="3352800"/>
            <a:ext cx="2057400" cy="3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/maintenance</a:t>
            </a:r>
            <a:endParaRPr/>
          </a:p>
        </p:txBody>
      </p:sp>
      <p:sp>
        <p:nvSpPr>
          <p:cNvPr id="239" name="Google Shape;239;p36"/>
          <p:cNvSpPr txBox="1"/>
          <p:nvPr/>
        </p:nvSpPr>
        <p:spPr>
          <a:xfrm>
            <a:off x="2667600" y="3390900"/>
            <a:ext cx="60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Maintenance activities — work orders &amp; scheduling</a:t>
            </a:r>
            <a:endParaRPr/>
          </a:p>
        </p:txBody>
      </p:sp>
      <p:sp>
        <p:nvSpPr>
          <p:cNvPr id="240" name="Google Shape;240;p36"/>
          <p:cNvSpPr/>
          <p:nvPr/>
        </p:nvSpPr>
        <p:spPr>
          <a:xfrm>
            <a:off x="457200" y="3810000"/>
            <a:ext cx="2057400" cy="3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/reports</a:t>
            </a:r>
            <a:endParaRPr/>
          </a:p>
        </p:txBody>
      </p:sp>
      <p:sp>
        <p:nvSpPr>
          <p:cNvPr id="241" name="Google Shape;241;p36"/>
          <p:cNvSpPr txBox="1"/>
          <p:nvPr/>
        </p:nvSpPr>
        <p:spPr>
          <a:xfrm>
            <a:off x="2667600" y="3848100"/>
            <a:ext cx="60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System reports — analytics &amp; data export</a:t>
            </a:r>
            <a:endParaRPr/>
          </a:p>
        </p:txBody>
      </p:sp>
      <p:sp>
        <p:nvSpPr>
          <p:cNvPr id="242" name="Google Shape;242;p36"/>
          <p:cNvSpPr/>
          <p:nvPr/>
        </p:nvSpPr>
        <p:spPr>
          <a:xfrm>
            <a:off x="457200" y="4267200"/>
            <a:ext cx="2057400" cy="38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/users</a:t>
            </a:r>
            <a:endParaRPr/>
          </a:p>
        </p:txBody>
      </p:sp>
      <p:sp>
        <p:nvSpPr>
          <p:cNvPr id="243" name="Google Shape;243;p36"/>
          <p:cNvSpPr txBox="1"/>
          <p:nvPr/>
        </p:nvSpPr>
        <p:spPr>
          <a:xfrm>
            <a:off x="2667600" y="4305300"/>
            <a:ext cx="60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User management — roles, permissions &amp; accounts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FFIMS Logo Design Concept</a:t>
            </a:r>
            <a:endParaRPr/>
          </a:p>
        </p:txBody>
      </p:sp>
      <p:sp>
        <p:nvSpPr>
          <p:cNvPr id="250" name="Google Shape;250;p37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Brand Identity</a:t>
            </a:r>
            <a:endParaRPr/>
          </a:p>
        </p:txBody>
      </p:sp>
      <p:sp>
        <p:nvSpPr>
          <p:cNvPr id="251" name="Google Shape;251;p37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7"/>
          <p:cNvSpPr/>
          <p:nvPr/>
        </p:nvSpPr>
        <p:spPr>
          <a:xfrm>
            <a:off x="457200" y="1143000"/>
            <a:ext cx="396240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Logo Components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"FF" — Fleet &amp; Facilities identifier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Tree symbol — center anchor element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"MS" — Management System identifier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Combined: FF [Tree] MS = FFIMS</a:t>
            </a:r>
            <a:endParaRPr/>
          </a:p>
        </p:txBody>
      </p:sp>
      <p:sp>
        <p:nvSpPr>
          <p:cNvPr id="253" name="Google Shape;253;p37"/>
          <p:cNvSpPr/>
          <p:nvPr/>
        </p:nvSpPr>
        <p:spPr>
          <a:xfrm>
            <a:off x="4724400" y="1143000"/>
            <a:ext cx="3962400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Tree Symbolism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Sustainability — long-term thinking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Infrastructure — solid foundations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Growth — scaling with the organization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Management — oversight &amp; care</a:t>
            </a:r>
            <a:endParaRPr/>
          </a:p>
        </p:txBody>
      </p:sp>
      <p:sp>
        <p:nvSpPr>
          <p:cNvPr id="254" name="Google Shape;254;p3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FFIMS logo is intentionally separate from Africa University branding, establishing it as an independent platform identity.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>
            <a:spLocks noGrp="1"/>
          </p:cNvSpPr>
          <p:nvPr>
            <p:ph type="title"/>
          </p:nvPr>
        </p:nvSpPr>
        <p:spPr>
          <a:xfrm>
            <a:off x="309575" y="-119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r>
              <a:rPr lang="en"/>
              <a:t>An example of what ma’am had suggested in class</a:t>
            </a:r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261" name="Google Shape;261;p38" title="FFMS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63" y="571500"/>
            <a:ext cx="8524875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 txBox="1"/>
          <p:nvPr/>
        </p:nvSpPr>
        <p:spPr>
          <a:xfrm>
            <a:off x="457200" y="1600200"/>
            <a:ext cx="27432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 FFIMS</a:t>
            </a:r>
            <a:endParaRPr/>
          </a:p>
        </p:txBody>
      </p:sp>
      <p:sp>
        <p:nvSpPr>
          <p:cNvPr id="268" name="Google Shape;268;p39"/>
          <p:cNvSpPr txBox="1"/>
          <p:nvPr/>
        </p:nvSpPr>
        <p:spPr>
          <a:xfrm>
            <a:off x="457200" y="1981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Architecture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&amp; Design System</a:t>
            </a:r>
            <a:endParaRPr/>
          </a:p>
        </p:txBody>
      </p:sp>
      <p:sp>
        <p:nvSpPr>
          <p:cNvPr id="269" name="Google Shape;269;p39"/>
          <p:cNvSpPr txBox="1"/>
          <p:nvPr/>
        </p:nvSpPr>
        <p:spPr>
          <a:xfrm>
            <a:off x="457200" y="3581400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Colors, Typography, Spacing, Components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Color System</a:t>
            </a:r>
            <a:endParaRPr/>
          </a:p>
        </p:txBody>
      </p:sp>
      <p:sp>
        <p:nvSpPr>
          <p:cNvPr id="276" name="Google Shape;276;p40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 FFIMS Visual Tokens</a:t>
            </a:r>
            <a:endParaRPr/>
          </a:p>
        </p:txBody>
      </p:sp>
      <p:sp>
        <p:nvSpPr>
          <p:cNvPr id="277" name="Google Shape;277;p40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0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FFIMS palette combines the brand red with semantic colors for status, feedback, and structural surfaces.</a:t>
            </a:r>
            <a:endParaRPr/>
          </a:p>
        </p:txBody>
      </p:sp>
      <p:sp>
        <p:nvSpPr>
          <p:cNvPr id="279" name="Google Shape;279;p40"/>
          <p:cNvSpPr/>
          <p:nvPr/>
        </p:nvSpPr>
        <p:spPr>
          <a:xfrm>
            <a:off x="457200" y="1524000"/>
            <a:ext cx="1371600" cy="8001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Red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#CC0000</a:t>
            </a:r>
            <a:endParaRPr/>
          </a:p>
        </p:txBody>
      </p:sp>
      <p:sp>
        <p:nvSpPr>
          <p:cNvPr id="280" name="Google Shape;280;p40"/>
          <p:cNvSpPr/>
          <p:nvPr/>
        </p:nvSpPr>
        <p:spPr>
          <a:xfrm>
            <a:off x="1943100" y="1524000"/>
            <a:ext cx="1371600" cy="800100"/>
          </a:xfrm>
          <a:prstGeom prst="rect">
            <a:avLst/>
          </a:prstGeom>
          <a:solidFill>
            <a:srgbClr val="1A1A1A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Dark / Nav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#1A1A1A</a:t>
            </a:r>
            <a:endParaRPr/>
          </a:p>
        </p:txBody>
      </p:sp>
      <p:sp>
        <p:nvSpPr>
          <p:cNvPr id="281" name="Google Shape;281;p40"/>
          <p:cNvSpPr/>
          <p:nvPr/>
        </p:nvSpPr>
        <p:spPr>
          <a:xfrm>
            <a:off x="3429000" y="1524000"/>
            <a:ext cx="1371600" cy="800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White / Card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#FFFFFF</a:t>
            </a:r>
            <a:endParaRPr/>
          </a:p>
        </p:txBody>
      </p:sp>
      <p:sp>
        <p:nvSpPr>
          <p:cNvPr id="282" name="Google Shape;282;p40"/>
          <p:cNvSpPr/>
          <p:nvPr/>
        </p:nvSpPr>
        <p:spPr>
          <a:xfrm>
            <a:off x="4914900" y="1524000"/>
            <a:ext cx="1371600" cy="800100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Bg Light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#F9FAFB</a:t>
            </a:r>
            <a:endParaRPr/>
          </a:p>
        </p:txBody>
      </p:sp>
      <p:sp>
        <p:nvSpPr>
          <p:cNvPr id="283" name="Google Shape;283;p40"/>
          <p:cNvSpPr/>
          <p:nvPr/>
        </p:nvSpPr>
        <p:spPr>
          <a:xfrm>
            <a:off x="6400800" y="1524000"/>
            <a:ext cx="1371600" cy="800100"/>
          </a:xfrm>
          <a:prstGeom prst="rect">
            <a:avLst/>
          </a:prstGeom>
          <a:solidFill>
            <a:srgbClr val="E1C7C7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Secondary Red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#E1C7C7</a:t>
            </a:r>
            <a:endParaRPr/>
          </a:p>
        </p:txBody>
      </p:sp>
      <p:sp>
        <p:nvSpPr>
          <p:cNvPr id="284" name="Google Shape;284;p40"/>
          <p:cNvSpPr/>
          <p:nvPr/>
        </p:nvSpPr>
        <p:spPr>
          <a:xfrm>
            <a:off x="7886700" y="1524000"/>
            <a:ext cx="1371600" cy="800100"/>
          </a:xfrm>
          <a:prstGeom prst="rect">
            <a:avLst/>
          </a:prstGeom>
          <a:solidFill>
            <a:srgbClr val="6B7280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Neutral Gray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#6B7280</a:t>
            </a:r>
            <a:endParaRPr/>
          </a:p>
        </p:txBody>
      </p:sp>
      <p:sp>
        <p:nvSpPr>
          <p:cNvPr id="285" name="Google Shape;285;p40"/>
          <p:cNvSpPr/>
          <p:nvPr/>
        </p:nvSpPr>
        <p:spPr>
          <a:xfrm>
            <a:off x="457200" y="2476500"/>
            <a:ext cx="1371600" cy="800100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Success Green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#22C55E</a:t>
            </a:r>
            <a:endParaRPr/>
          </a:p>
        </p:txBody>
      </p:sp>
      <p:sp>
        <p:nvSpPr>
          <p:cNvPr id="286" name="Google Shape;286;p40"/>
          <p:cNvSpPr/>
          <p:nvPr/>
        </p:nvSpPr>
        <p:spPr>
          <a:xfrm>
            <a:off x="1943100" y="2476500"/>
            <a:ext cx="1371600" cy="800100"/>
          </a:xfrm>
          <a:prstGeom prst="rect">
            <a:avLst/>
          </a:prstGeom>
          <a:solidFill>
            <a:srgbClr val="FACC15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Warning Yellow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#FACC15</a:t>
            </a:r>
            <a:endParaRPr/>
          </a:p>
        </p:txBody>
      </p:sp>
      <p:sp>
        <p:nvSpPr>
          <p:cNvPr id="287" name="Google Shape;287;p40"/>
          <p:cNvSpPr/>
          <p:nvPr/>
        </p:nvSpPr>
        <p:spPr>
          <a:xfrm>
            <a:off x="3429000" y="2476500"/>
            <a:ext cx="1371600" cy="80010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 Red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#EF4444</a:t>
            </a:r>
            <a:endParaRPr/>
          </a:p>
        </p:txBody>
      </p:sp>
      <p:sp>
        <p:nvSpPr>
          <p:cNvPr id="288" name="Google Shape;288;p40"/>
          <p:cNvSpPr/>
          <p:nvPr/>
        </p:nvSpPr>
        <p:spPr>
          <a:xfrm>
            <a:off x="4914900" y="2476500"/>
            <a:ext cx="1371600" cy="8001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 Blue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#3B82F6</a:t>
            </a:r>
            <a:endParaRPr/>
          </a:p>
        </p:txBody>
      </p:sp>
      <p:sp>
        <p:nvSpPr>
          <p:cNvPr id="289" name="Google Shape;289;p40"/>
          <p:cNvSpPr/>
          <p:nvPr/>
        </p:nvSpPr>
        <p:spPr>
          <a:xfrm>
            <a:off x="6400800" y="2476500"/>
            <a:ext cx="2857500" cy="8001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Semantic Usage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Green: Completed, Open statuses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Yellow: Low fuel, warnings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Red: Critical, overdue alerts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Blue: Active, info states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1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Typography System</a:t>
            </a:r>
            <a:endParaRPr/>
          </a:p>
        </p:txBody>
      </p:sp>
      <p:sp>
        <p:nvSpPr>
          <p:cNvPr id="296" name="Google Shape;296;p41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Font Scale &amp; Hierarchy</a:t>
            </a:r>
            <a:endParaRPr/>
          </a:p>
        </p:txBody>
      </p:sp>
      <p:sp>
        <p:nvSpPr>
          <p:cNvPr id="297" name="Google Shape;297;p41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1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Font family: Inter (web) / Calibri (equivalent) — clean and highly legible at all sizes.</a:t>
            </a:r>
            <a:endParaRPr/>
          </a:p>
        </p:txBody>
      </p:sp>
      <p:sp>
        <p:nvSpPr>
          <p:cNvPr id="299" name="Google Shape;299;p41"/>
          <p:cNvSpPr/>
          <p:nvPr/>
        </p:nvSpPr>
        <p:spPr>
          <a:xfrm>
            <a:off x="457200" y="1524000"/>
            <a:ext cx="5638200" cy="628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Page Titles</a:t>
            </a:r>
            <a:r>
              <a:rPr lang="en" sz="15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—  20-24px | Semi-bold</a:t>
            </a:r>
            <a:endParaRPr/>
          </a:p>
        </p:txBody>
      </p:sp>
      <p:sp>
        <p:nvSpPr>
          <p:cNvPr id="300" name="Google Shape;300;p41"/>
          <p:cNvSpPr/>
          <p:nvPr/>
        </p:nvSpPr>
        <p:spPr>
          <a:xfrm>
            <a:off x="6171600" y="1524000"/>
            <a:ext cx="2591400" cy="62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Dashboard Overview, Fleet Management</a:t>
            </a:r>
            <a:endParaRPr/>
          </a:p>
        </p:txBody>
      </p:sp>
      <p:sp>
        <p:nvSpPr>
          <p:cNvPr id="301" name="Google Shape;301;p41"/>
          <p:cNvSpPr/>
          <p:nvPr/>
        </p:nvSpPr>
        <p:spPr>
          <a:xfrm>
            <a:off x="457200" y="2204000"/>
            <a:ext cx="5638200" cy="628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Section Headers</a:t>
            </a:r>
            <a:r>
              <a:rPr lang="en" sz="15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—  16-18px | Medium</a:t>
            </a:r>
            <a:endParaRPr/>
          </a:p>
        </p:txBody>
      </p:sp>
      <p:sp>
        <p:nvSpPr>
          <p:cNvPr id="302" name="Google Shape;302;p41"/>
          <p:cNvSpPr/>
          <p:nvPr/>
        </p:nvSpPr>
        <p:spPr>
          <a:xfrm>
            <a:off x="6171600" y="2204000"/>
            <a:ext cx="2591400" cy="62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Module titles, card headers, nav labels</a:t>
            </a:r>
            <a:endParaRPr/>
          </a:p>
        </p:txBody>
      </p:sp>
      <p:sp>
        <p:nvSpPr>
          <p:cNvPr id="303" name="Google Shape;303;p41"/>
          <p:cNvSpPr/>
          <p:nvPr/>
        </p:nvSpPr>
        <p:spPr>
          <a:xfrm>
            <a:off x="457200" y="2884000"/>
            <a:ext cx="5638200" cy="628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Body Text</a:t>
            </a:r>
            <a:r>
              <a:rPr lang="en" sz="15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—  13-14px | Regular</a:t>
            </a:r>
            <a:endParaRPr/>
          </a:p>
        </p:txBody>
      </p:sp>
      <p:sp>
        <p:nvSpPr>
          <p:cNvPr id="304" name="Google Shape;304;p41"/>
          <p:cNvSpPr/>
          <p:nvPr/>
        </p:nvSpPr>
        <p:spPr>
          <a:xfrm>
            <a:off x="6171600" y="2884000"/>
            <a:ext cx="2591400" cy="62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Descriptions, form labels, list content</a:t>
            </a:r>
            <a:endParaRPr/>
          </a:p>
        </p:txBody>
      </p:sp>
      <p:sp>
        <p:nvSpPr>
          <p:cNvPr id="305" name="Google Shape;305;p41"/>
          <p:cNvSpPr/>
          <p:nvPr/>
        </p:nvSpPr>
        <p:spPr>
          <a:xfrm>
            <a:off x="457200" y="3564000"/>
            <a:ext cx="5638200" cy="628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Table Text</a:t>
            </a:r>
            <a:r>
              <a:rPr lang="en" sz="15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  —  12-13px | Regular</a:t>
            </a:r>
            <a:endParaRPr/>
          </a:p>
        </p:txBody>
      </p:sp>
      <p:sp>
        <p:nvSpPr>
          <p:cNvPr id="306" name="Google Shape;306;p41"/>
          <p:cNvSpPr/>
          <p:nvPr/>
        </p:nvSpPr>
        <p:spPr>
          <a:xfrm>
            <a:off x="6171600" y="3564000"/>
            <a:ext cx="2591400" cy="62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Data rows, column headers in data tables</a:t>
            </a:r>
            <a:endParaRPr/>
          </a:p>
        </p:txBody>
      </p:sp>
      <p:sp>
        <p:nvSpPr>
          <p:cNvPr id="307" name="Google Shape;307;p41"/>
          <p:cNvSpPr/>
          <p:nvPr/>
        </p:nvSpPr>
        <p:spPr>
          <a:xfrm>
            <a:off x="457200" y="4244000"/>
            <a:ext cx="5638200" cy="628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 Labels</a:t>
            </a:r>
            <a:r>
              <a:rPr lang="en" sz="15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  —  11-12px | Medium, UPPERCASE</a:t>
            </a:r>
            <a:endParaRPr/>
          </a:p>
        </p:txBody>
      </p:sp>
      <p:sp>
        <p:nvSpPr>
          <p:cNvPr id="308" name="Google Shape;308;p41"/>
          <p:cNvSpPr/>
          <p:nvPr/>
        </p:nvSpPr>
        <p:spPr>
          <a:xfrm>
            <a:off x="6171600" y="4244000"/>
            <a:ext cx="2591400" cy="628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OPEN, CLOSED, PENDING, OVERDUE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Spacing System</a:t>
            </a:r>
            <a:endParaRPr/>
          </a:p>
        </p:txBody>
      </p:sp>
      <p:sp>
        <p:nvSpPr>
          <p:cNvPr id="315" name="Google Shape;315;p42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8px Base Grid</a:t>
            </a:r>
            <a:endParaRPr/>
          </a:p>
        </p:txBody>
      </p:sp>
      <p:sp>
        <p:nvSpPr>
          <p:cNvPr id="316" name="Google Shape;316;p42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2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spacing is based on an 8px grid -- creating rhythm and consistency across every element in the interface.</a:t>
            </a:r>
            <a:endParaRPr/>
          </a:p>
        </p:txBody>
      </p:sp>
      <p:sp>
        <p:nvSpPr>
          <p:cNvPr id="318" name="Google Shape;318;p42"/>
          <p:cNvSpPr/>
          <p:nvPr/>
        </p:nvSpPr>
        <p:spPr>
          <a:xfrm>
            <a:off x="457200" y="1524000"/>
            <a:ext cx="1143000" cy="65913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4px</a:t>
            </a:r>
            <a:endParaRPr/>
          </a:p>
        </p:txBody>
      </p:sp>
      <p:sp>
        <p:nvSpPr>
          <p:cNvPr id="319" name="Google Shape;319;p42"/>
          <p:cNvSpPr/>
          <p:nvPr/>
        </p:nvSpPr>
        <p:spPr>
          <a:xfrm>
            <a:off x="1676400" y="1524000"/>
            <a:ext cx="7239000" cy="659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Extra Small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Icon padding, tight row gaps</a:t>
            </a:r>
            <a:endParaRPr/>
          </a:p>
        </p:txBody>
      </p:sp>
      <p:sp>
        <p:nvSpPr>
          <p:cNvPr id="320" name="Google Shape;320;p42"/>
          <p:cNvSpPr/>
          <p:nvPr/>
        </p:nvSpPr>
        <p:spPr>
          <a:xfrm>
            <a:off x="457200" y="2202180"/>
            <a:ext cx="1143000" cy="65913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8–16px</a:t>
            </a:r>
            <a:endParaRPr/>
          </a:p>
        </p:txBody>
      </p:sp>
      <p:sp>
        <p:nvSpPr>
          <p:cNvPr id="321" name="Google Shape;321;p42"/>
          <p:cNvSpPr/>
          <p:nvPr/>
        </p:nvSpPr>
        <p:spPr>
          <a:xfrm>
            <a:off x="1676400" y="2202180"/>
            <a:ext cx="7239000" cy="659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Small / Medium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Form fields, button padding, input height</a:t>
            </a:r>
            <a:endParaRPr/>
          </a:p>
        </p:txBody>
      </p:sp>
      <p:sp>
        <p:nvSpPr>
          <p:cNvPr id="322" name="Google Shape;322;p42"/>
          <p:cNvSpPr/>
          <p:nvPr/>
        </p:nvSpPr>
        <p:spPr>
          <a:xfrm>
            <a:off x="457200" y="2880360"/>
            <a:ext cx="1143000" cy="6591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24–32px</a:t>
            </a:r>
            <a:endParaRPr/>
          </a:p>
        </p:txBody>
      </p:sp>
      <p:sp>
        <p:nvSpPr>
          <p:cNvPr id="323" name="Google Shape;323;p42"/>
          <p:cNvSpPr/>
          <p:nvPr/>
        </p:nvSpPr>
        <p:spPr>
          <a:xfrm>
            <a:off x="1676400" y="2880360"/>
            <a:ext cx="7239000" cy="659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Card sections, content group separation</a:t>
            </a:r>
            <a:endParaRPr/>
          </a:p>
        </p:txBody>
      </p:sp>
      <p:sp>
        <p:nvSpPr>
          <p:cNvPr id="324" name="Google Shape;324;p42"/>
          <p:cNvSpPr/>
          <p:nvPr/>
        </p:nvSpPr>
        <p:spPr>
          <a:xfrm>
            <a:off x="457200" y="3558540"/>
            <a:ext cx="1143000" cy="65913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24px</a:t>
            </a:r>
            <a:endParaRPr/>
          </a:p>
        </p:txBody>
      </p:sp>
      <p:sp>
        <p:nvSpPr>
          <p:cNvPr id="325" name="Google Shape;325;p42"/>
          <p:cNvSpPr/>
          <p:nvPr/>
        </p:nvSpPr>
        <p:spPr>
          <a:xfrm>
            <a:off x="1676400" y="3558540"/>
            <a:ext cx="7239000" cy="659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Page Padding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Consistent outer edge margin on all pages</a:t>
            </a:r>
            <a:endParaRPr/>
          </a:p>
        </p:txBody>
      </p:sp>
      <p:sp>
        <p:nvSpPr>
          <p:cNvPr id="326" name="Google Shape;326;p42"/>
          <p:cNvSpPr/>
          <p:nvPr/>
        </p:nvSpPr>
        <p:spPr>
          <a:xfrm>
            <a:off x="457200" y="4236720"/>
            <a:ext cx="1143000" cy="6591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16–20px</a:t>
            </a:r>
            <a:endParaRPr/>
          </a:p>
        </p:txBody>
      </p:sp>
      <p:sp>
        <p:nvSpPr>
          <p:cNvPr id="327" name="Google Shape;327;p42"/>
          <p:cNvSpPr/>
          <p:nvPr/>
        </p:nvSpPr>
        <p:spPr>
          <a:xfrm>
            <a:off x="1676400" y="4236720"/>
            <a:ext cx="7239000" cy="659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91425" rIns="1524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Card Padding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Interior padding inside all card components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Button System</a:t>
            </a:r>
            <a:endParaRPr/>
          </a:p>
        </p:txBody>
      </p:sp>
      <p:sp>
        <p:nvSpPr>
          <p:cNvPr id="334" name="Google Shape;334;p43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Interactive Controls</a:t>
            </a:r>
            <a:endParaRPr/>
          </a:p>
        </p:txBody>
      </p:sp>
      <p:sp>
        <p:nvSpPr>
          <p:cNvPr id="335" name="Google Shape;335;p43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buttons follow a 36–40px height standard with 6–8px border radius. Semantic color codes signal the action type.</a:t>
            </a:r>
            <a:endParaRPr/>
          </a:p>
        </p:txBody>
      </p:sp>
      <p:sp>
        <p:nvSpPr>
          <p:cNvPr id="337" name="Google Shape;337;p43"/>
          <p:cNvSpPr/>
          <p:nvPr/>
        </p:nvSpPr>
        <p:spPr>
          <a:xfrm>
            <a:off x="457200" y="1524000"/>
            <a:ext cx="1219200" cy="533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/>
          </a:p>
        </p:txBody>
      </p:sp>
      <p:sp>
        <p:nvSpPr>
          <p:cNvPr id="338" name="Google Shape;338;p43"/>
          <p:cNvSpPr txBox="1"/>
          <p:nvPr/>
        </p:nvSpPr>
        <p:spPr>
          <a:xfrm>
            <a:off x="1752600" y="1600200"/>
            <a:ext cx="137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Navigation, login, submit — main CTA</a:t>
            </a:r>
            <a:endParaRPr/>
          </a:p>
        </p:txBody>
      </p:sp>
      <p:sp>
        <p:nvSpPr>
          <p:cNvPr id="339" name="Google Shape;339;p43"/>
          <p:cNvSpPr/>
          <p:nvPr/>
        </p:nvSpPr>
        <p:spPr>
          <a:xfrm>
            <a:off x="3429600" y="1524000"/>
            <a:ext cx="1219200" cy="533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Secondary</a:t>
            </a:r>
            <a:endParaRPr/>
          </a:p>
        </p:txBody>
      </p:sp>
      <p:sp>
        <p:nvSpPr>
          <p:cNvPr id="340" name="Google Shape;340;p43"/>
          <p:cNvSpPr txBox="1"/>
          <p:nvPr/>
        </p:nvSpPr>
        <p:spPr>
          <a:xfrm>
            <a:off x="4725000" y="1600200"/>
            <a:ext cx="137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Cancel, back, alternative — bordered</a:t>
            </a:r>
            <a:endParaRPr/>
          </a:p>
        </p:txBody>
      </p:sp>
      <p:sp>
        <p:nvSpPr>
          <p:cNvPr id="341" name="Google Shape;341;p43"/>
          <p:cNvSpPr/>
          <p:nvPr/>
        </p:nvSpPr>
        <p:spPr>
          <a:xfrm>
            <a:off x="6402000" y="1524000"/>
            <a:ext cx="1219200" cy="533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/>
          </a:p>
        </p:txBody>
      </p:sp>
      <p:sp>
        <p:nvSpPr>
          <p:cNvPr id="342" name="Google Shape;342;p43"/>
          <p:cNvSpPr txBox="1"/>
          <p:nvPr/>
        </p:nvSpPr>
        <p:spPr>
          <a:xfrm>
            <a:off x="7697400" y="1600200"/>
            <a:ext cx="137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Confirm complete, approve, open</a:t>
            </a:r>
            <a:endParaRPr/>
          </a:p>
        </p:txBody>
      </p:sp>
      <p:sp>
        <p:nvSpPr>
          <p:cNvPr id="343" name="Google Shape;343;p43"/>
          <p:cNvSpPr/>
          <p:nvPr/>
        </p:nvSpPr>
        <p:spPr>
          <a:xfrm>
            <a:off x="457200" y="2362200"/>
            <a:ext cx="1219200" cy="5334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/>
          </a:p>
        </p:txBody>
      </p:sp>
      <p:sp>
        <p:nvSpPr>
          <p:cNvPr id="344" name="Google Shape;344;p43"/>
          <p:cNvSpPr txBox="1"/>
          <p:nvPr/>
        </p:nvSpPr>
        <p:spPr>
          <a:xfrm>
            <a:off x="1752600" y="2438400"/>
            <a:ext cx="137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Proceed with caution, low-fuel alert</a:t>
            </a:r>
            <a:endParaRPr/>
          </a:p>
        </p:txBody>
      </p:sp>
      <p:sp>
        <p:nvSpPr>
          <p:cNvPr id="345" name="Google Shape;345;p43"/>
          <p:cNvSpPr/>
          <p:nvPr/>
        </p:nvSpPr>
        <p:spPr>
          <a:xfrm>
            <a:off x="3429600" y="2362200"/>
            <a:ext cx="1219200" cy="533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Danger</a:t>
            </a:r>
            <a:endParaRPr/>
          </a:p>
        </p:txBody>
      </p:sp>
      <p:sp>
        <p:nvSpPr>
          <p:cNvPr id="346" name="Google Shape;346;p43"/>
          <p:cNvSpPr txBox="1"/>
          <p:nvPr/>
        </p:nvSpPr>
        <p:spPr>
          <a:xfrm>
            <a:off x="4725000" y="2438400"/>
            <a:ext cx="137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Delete, critical action, overdue</a:t>
            </a:r>
            <a:endParaRPr/>
          </a:p>
        </p:txBody>
      </p:sp>
      <p:sp>
        <p:nvSpPr>
          <p:cNvPr id="347" name="Google Shape;347;p43"/>
          <p:cNvSpPr/>
          <p:nvPr/>
        </p:nvSpPr>
        <p:spPr>
          <a:xfrm>
            <a:off x="6402000" y="2362200"/>
            <a:ext cx="1219200" cy="5334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Disabled</a:t>
            </a:r>
            <a:endParaRPr/>
          </a:p>
        </p:txBody>
      </p:sp>
      <p:sp>
        <p:nvSpPr>
          <p:cNvPr id="348" name="Google Shape;348;p43"/>
          <p:cNvSpPr txBox="1"/>
          <p:nvPr/>
        </p:nvSpPr>
        <p:spPr>
          <a:xfrm>
            <a:off x="7697400" y="2438400"/>
            <a:ext cx="137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Unavailable state — no interaction</a:t>
            </a:r>
            <a:endParaRPr/>
          </a:p>
        </p:txBody>
      </p:sp>
      <p:sp>
        <p:nvSpPr>
          <p:cNvPr id="349" name="Google Shape;349;p43"/>
          <p:cNvSpPr/>
          <p:nvPr/>
        </p:nvSpPr>
        <p:spPr>
          <a:xfrm>
            <a:off x="457200" y="3695400"/>
            <a:ext cx="8229600" cy="533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Specifications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Height: 36–40px  |  Border radius: 6–8px  |  Padding: 12–16px horizontal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All variants support hover, active, focus, and disabled states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4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Design</a:t>
            </a:r>
            <a:endParaRPr/>
          </a:p>
        </p:txBody>
      </p:sp>
      <p:sp>
        <p:nvSpPr>
          <p:cNvPr id="356" name="Google Shape;356;p44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Data Display Patterns</a:t>
            </a:r>
            <a:endParaRPr/>
          </a:p>
        </p:txBody>
      </p:sp>
      <p:sp>
        <p:nvSpPr>
          <p:cNvPr id="357" name="Google Shape;357;p44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Tables are the primary data surface in FFIMS. Every table follows consistent row height, status chips, and action patterns.</a:t>
            </a:r>
            <a:endParaRPr/>
          </a:p>
        </p:txBody>
      </p:sp>
      <p:sp>
        <p:nvSpPr>
          <p:cNvPr id="359" name="Google Shape;359;p44"/>
          <p:cNvSpPr/>
          <p:nvPr/>
        </p:nvSpPr>
        <p:spPr>
          <a:xfrm>
            <a:off x="457200" y="1524000"/>
            <a:ext cx="38862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White background, light gray dividers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Header: Medium weight, gray 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Row height: 40–48px (comfortable)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Zebra striping: optional light gray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Hover state: #F3F4F6 row highlight</a:t>
            </a:r>
            <a:endParaRPr/>
          </a:p>
        </p:txBody>
      </p:sp>
      <p:sp>
        <p:nvSpPr>
          <p:cNvPr id="360" name="Google Shape;360;p44"/>
          <p:cNvSpPr/>
          <p:nvPr/>
        </p:nvSpPr>
        <p:spPr>
          <a:xfrm>
            <a:off x="4724400" y="1524000"/>
            <a:ext cx="3962400" cy="3200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 Patterns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Status chips embedded in cells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Actions: right-aligned or kebab menu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Sortable columns: arrow indicators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Search + filter bar above table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Pagination: bottom right</a:t>
            </a:r>
            <a:endParaRPr/>
          </a:p>
        </p:txBody>
      </p:sp>
      <p:sp>
        <p:nvSpPr>
          <p:cNvPr id="361" name="Google Shape;361;p44"/>
          <p:cNvSpPr txBox="1"/>
          <p:nvPr/>
        </p:nvSpPr>
        <p:spPr>
          <a:xfrm>
            <a:off x="457200" y="495240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Status chips use semantic colors: Green = Open/Complete, Yellow = Warning, Red = Critical/Overdue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Design</a:t>
            </a:r>
            <a:endParaRPr/>
          </a:p>
        </p:txBody>
      </p:sp>
      <p:sp>
        <p:nvSpPr>
          <p:cNvPr id="368" name="Google Shape;368;p45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Input &amp; Interaction Patterns</a:t>
            </a:r>
            <a:endParaRPr/>
          </a:p>
        </p:txBody>
      </p:sp>
      <p:sp>
        <p:nvSpPr>
          <p:cNvPr id="369" name="Google Shape;369;p45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form elements share a consistent visual language — rounded corners, semantic focus states, and inline icon support.</a:t>
            </a:r>
            <a:endParaRPr/>
          </a:p>
        </p:txBody>
      </p:sp>
      <p:sp>
        <p:nvSpPr>
          <p:cNvPr id="371" name="Google Shape;371;p45"/>
          <p:cNvSpPr/>
          <p:nvPr/>
        </p:nvSpPr>
        <p:spPr>
          <a:xfrm>
            <a:off x="457200" y="1524000"/>
            <a:ext cx="8229600" cy="533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Input Fields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Rounded corners (6px), light gray border #E5E7EB</a:t>
            </a:r>
            <a:endParaRPr/>
          </a:p>
        </p:txBody>
      </p:sp>
      <p:sp>
        <p:nvSpPr>
          <p:cNvPr id="372" name="Google Shape;372;p45"/>
          <p:cNvSpPr/>
          <p:nvPr/>
        </p:nvSpPr>
        <p:spPr>
          <a:xfrm>
            <a:off x="457200" y="2133600"/>
            <a:ext cx="8229600" cy="533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Focus State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Blue border replaces gray — clear interaction feedback</a:t>
            </a:r>
            <a:endParaRPr/>
          </a:p>
        </p:txBody>
      </p:sp>
      <p:sp>
        <p:nvSpPr>
          <p:cNvPr id="373" name="Google Shape;373;p45"/>
          <p:cNvSpPr/>
          <p:nvPr/>
        </p:nvSpPr>
        <p:spPr>
          <a:xfrm>
            <a:off x="457200" y="2743200"/>
            <a:ext cx="8229600" cy="533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Placeholder 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Gray placeholder — disappears on focus</a:t>
            </a:r>
            <a:endParaRPr/>
          </a:p>
        </p:txBody>
      </p:sp>
      <p:sp>
        <p:nvSpPr>
          <p:cNvPr id="374" name="Google Shape;374;p45"/>
          <p:cNvSpPr/>
          <p:nvPr/>
        </p:nvSpPr>
        <p:spPr>
          <a:xfrm>
            <a:off x="457200" y="3352800"/>
            <a:ext cx="8229600" cy="533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Dropdowns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Styled consistently with text inputs, chevron icon</a:t>
            </a:r>
            <a:endParaRPr/>
          </a:p>
        </p:txBody>
      </p:sp>
      <p:sp>
        <p:nvSpPr>
          <p:cNvPr id="375" name="Google Shape;375;p45"/>
          <p:cNvSpPr/>
          <p:nvPr/>
        </p:nvSpPr>
        <p:spPr>
          <a:xfrm>
            <a:off x="457200" y="3962400"/>
            <a:ext cx="8229600" cy="533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Search Inputs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• Inline search icon (left), filter icon (right)</a:t>
            </a:r>
            <a:endParaRPr/>
          </a:p>
        </p:txBody>
      </p:sp>
      <p:sp>
        <p:nvSpPr>
          <p:cNvPr id="376" name="Google Shape;376;p45"/>
          <p:cNvSpPr/>
          <p:nvPr/>
        </p:nvSpPr>
        <p:spPr>
          <a:xfrm>
            <a:off x="457200" y="4572000"/>
            <a:ext cx="8229600" cy="533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EEEE"/>
                </a:solidFill>
                <a:latin typeface="Calibri"/>
                <a:ea typeface="Calibri"/>
                <a:cs typeface="Calibri"/>
                <a:sym typeface="Calibri"/>
              </a:rPr>
              <a:t>• Inline error in red below field, success in green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Icon System</a:t>
            </a:r>
            <a:endParaRPr/>
          </a:p>
        </p:txBody>
      </p:sp>
      <p:sp>
        <p:nvSpPr>
          <p:cNvPr id="383" name="Google Shape;383;p46"/>
          <p:cNvSpPr txBox="1"/>
          <p:nvPr/>
        </p:nvSpPr>
        <p:spPr>
          <a:xfrm>
            <a:off x="457200" y="724725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Visual Language</a:t>
            </a:r>
            <a:endParaRPr/>
          </a:p>
        </p:txBody>
      </p:sp>
      <p:sp>
        <p:nvSpPr>
          <p:cNvPr id="384" name="Google Shape;384;p46"/>
          <p:cNvSpPr/>
          <p:nvPr/>
        </p:nvSpPr>
        <p:spPr>
          <a:xfrm>
            <a:off x="457200" y="1020000"/>
            <a:ext cx="8229600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6"/>
          <p:cNvSpPr txBox="1"/>
          <p:nvPr/>
        </p:nvSpPr>
        <p:spPr>
          <a:xfrm>
            <a:off x="457200" y="10668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Outline / minimal style icons at 16-20px. Gray by default, red/blue when active. Always paired with labels in navigation.</a:t>
            </a:r>
            <a:endParaRPr/>
          </a:p>
        </p:txBody>
      </p:sp>
      <p:sp>
        <p:nvSpPr>
          <p:cNvPr id="386" name="Google Shape;386;p46"/>
          <p:cNvSpPr/>
          <p:nvPr/>
        </p:nvSpPr>
        <p:spPr>
          <a:xfrm>
            <a:off x="457200" y="1524000"/>
            <a:ext cx="4267200" cy="33909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Specifications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Style: Outline / minimal, consistent stroke width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Size: 16px inline/table | 20px navigation | 24px hero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Default color: Gray #6B7280 — neutral, unobtrusive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Active color: Red #CC0000 (primary nav)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Active color: Blue #3B82F6 (interactive elements)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• Always paired with text labels in navigation</a:t>
            </a:r>
            <a:endParaRPr/>
          </a:p>
        </p:txBody>
      </p:sp>
      <p:sp>
        <p:nvSpPr>
          <p:cNvPr id="387" name="Google Shape;387;p46"/>
          <p:cNvSpPr/>
          <p:nvPr/>
        </p:nvSpPr>
        <p:spPr>
          <a:xfrm>
            <a:off x="4952400" y="1524000"/>
            <a:ext cx="3733200" cy="33909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52400" tIns="152400" rIns="152400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Common Icons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Search — filter &amp; lookup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Filter — column/row filtering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Plus (+) — create new record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Edit (pencil) — modify entry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More / Kebab — action menu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Bell — notifications &amp; alerts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Chevron — expand / collapse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• Check — confirm / complete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1368</Words>
  <Application>Microsoft Office PowerPoint</Application>
  <PresentationFormat>On-screen Show (16:9)</PresentationFormat>
  <Paragraphs>256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</vt:lpstr>
      <vt:lpstr>Space Grotesk</vt:lpstr>
      <vt:lpstr>Arial</vt:lpstr>
      <vt:lpstr>Roboto</vt:lpstr>
      <vt:lpstr>Space Grotesk Light</vt:lpstr>
      <vt:lpstr>Simple Light</vt:lpstr>
      <vt:lpstr>Simple Light</vt:lpstr>
      <vt:lpstr>UI Framework &amp; Design System</vt:lpstr>
      <vt:lpstr>UI Framework Overview</vt:lpstr>
      <vt:lpstr>Design Goals</vt:lpstr>
      <vt:lpstr>Color Scheme</vt:lpstr>
      <vt:lpstr>Typography</vt:lpstr>
      <vt:lpstr>Login Page UI Design</vt:lpstr>
      <vt:lpstr>PowerPoint Presentation</vt:lpstr>
      <vt:lpstr>Dashboard UI Design</vt:lpstr>
      <vt:lpstr>PowerPoint Presentation</vt:lpstr>
      <vt:lpstr>PowerPoint Presentation</vt:lpstr>
      <vt:lpstr>URLs &amp; Navigation Structure</vt:lpstr>
      <vt:lpstr>FFIMS Logo Design Concept</vt:lpstr>
      <vt:lpstr>An example of what ma’am had suggested in class</vt:lpstr>
      <vt:lpstr>PowerPoint Presentation</vt:lpstr>
      <vt:lpstr>Color System</vt:lpstr>
      <vt:lpstr>Typography System</vt:lpstr>
      <vt:lpstr>Spacing System</vt:lpstr>
      <vt:lpstr>Button System</vt:lpstr>
      <vt:lpstr>Table Design</vt:lpstr>
      <vt:lpstr>Form Design</vt:lpstr>
      <vt:lpstr>Icon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Framework &amp; Design System</dc:title>
  <cp:lastModifiedBy>User</cp:lastModifiedBy>
  <cp:revision>1</cp:revision>
  <dcterms:modified xsi:type="dcterms:W3CDTF">2026-04-09T08:28:57Z</dcterms:modified>
</cp:coreProperties>
</file>